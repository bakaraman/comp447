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40" d="100"/>
          <a:sy n="140" d="100"/>
        </p:scale>
        <p:origin x="13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623888" y="3587262"/>
            <a:ext cx="4651497" cy="97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463040" y="125977"/>
            <a:ext cx="7793502" cy="61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  <a:defRPr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8650" y="150206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Noto Sans Symbols"/>
              <a:buChar char="▪"/>
              <a:defRPr sz="2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68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▪"/>
              <a:defRPr sz="2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700"/>
              <a:buFont typeface="Noto Sans Symbols"/>
              <a:buChar char="▪"/>
              <a:defRPr sz="17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PRIVATE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2C2C2C"/>
                </a:solidFill>
              </a:rPr>
              <a:t>The Team Behind SQ-GAN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1796796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777777"/>
                </a:solidFill>
              </a:rPr>
              <a:t>One university, two labs, three academic generations</a:t>
            </a:r>
          </a:p>
        </p:txBody>
      </p:sp>
      <p:pic>
        <p:nvPicPr>
          <p:cNvPr id="5" name="Picture 4" descr="wa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04872"/>
            <a:ext cx="685800" cy="685800"/>
          </a:xfrm>
          <a:prstGeom prst="rect">
            <a:avLst/>
          </a:prstGeom>
        </p:spPr>
      </p:pic>
      <p:pic>
        <p:nvPicPr>
          <p:cNvPr id="6" name="Picture 5" descr="lan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04872"/>
            <a:ext cx="685800" cy="685800"/>
          </a:xfrm>
          <a:prstGeom prst="rect">
            <a:avLst/>
          </a:prstGeom>
        </p:spPr>
      </p:pic>
      <p:pic>
        <p:nvPicPr>
          <p:cNvPr id="7" name="Picture 6" descr="zhou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404872"/>
            <a:ext cx="685800" cy="685800"/>
          </a:xfrm>
          <a:prstGeom prst="rect">
            <a:avLst/>
          </a:prstGeom>
        </p:spPr>
      </p:pic>
      <p:pic>
        <p:nvPicPr>
          <p:cNvPr id="8" name="Picture 7" descr="tian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2404872"/>
            <a:ext cx="685800" cy="685800"/>
          </a:xfrm>
          <a:prstGeom prst="rect">
            <a:avLst/>
          </a:prstGeom>
        </p:spPr>
      </p:pic>
      <p:pic>
        <p:nvPicPr>
          <p:cNvPr id="9" name="Picture 8" descr="lv_pho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2404872"/>
            <a:ext cx="685800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3182112"/>
            <a:ext cx="685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</a:rPr>
              <a:t>Wang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82112"/>
            <a:ext cx="685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</a:rPr>
              <a:t>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82112"/>
            <a:ext cx="685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</a:rPr>
              <a:t>Zhou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82112"/>
            <a:ext cx="685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</a:rPr>
              <a:t>Tian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182112"/>
            <a:ext cx="685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</a:rPr>
              <a:t>Lv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93592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</a:rPr>
              <a:t>Academic lineage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67912"/>
            <a:ext cx="384048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Zhang Yi (IEEE Fellow, MachineILab 2008)</a:t>
            </a:r>
          </a:p>
          <a:p>
            <a:r>
              <a:rPr sz="1050">
                <a:solidFill>
                  <a:srgbClr val="2C2C2C"/>
                </a:solidFill>
              </a:rPr>
              <a:t>→ Jiancheng Lv (now Dean, DICALab)</a:t>
            </a:r>
          </a:p>
          <a:p>
            <a:r>
              <a:rPr sz="1050">
                <a:solidFill>
                  <a:srgbClr val="2C2C2C"/>
                </a:solidFill>
              </a:rPr>
              <a:t>→ Wang, Lan, Tian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593592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0392B"/>
                </a:solidFill>
              </a:rPr>
              <a:t>Two 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867912"/>
            <a:ext cx="393192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 err="1">
                <a:solidFill>
                  <a:srgbClr val="2C2C2C"/>
                </a:solidFill>
              </a:rPr>
              <a:t>MachineILab</a:t>
            </a:r>
            <a:r>
              <a:rPr sz="1050" dirty="0">
                <a:solidFill>
                  <a:srgbClr val="2C2C2C"/>
                </a:solidFill>
              </a:rPr>
              <a:t>: neural networks, ML, medical imaging</a:t>
            </a:r>
          </a:p>
          <a:p>
            <a:r>
              <a:rPr sz="1050" dirty="0" err="1">
                <a:solidFill>
                  <a:srgbClr val="2C2C2C"/>
                </a:solidFill>
              </a:rPr>
              <a:t>DICALab</a:t>
            </a:r>
            <a:r>
              <a:rPr sz="1050" dirty="0">
                <a:solidFill>
                  <a:srgbClr val="2C2C2C"/>
                </a:solidFill>
              </a:rPr>
              <a:t>: industrial AI, image generation</a:t>
            </a:r>
          </a:p>
          <a:p>
            <a:r>
              <a:rPr sz="1050" dirty="0">
                <a:solidFill>
                  <a:srgbClr val="2C2C2C"/>
                </a:solidFill>
              </a:rPr>
              <a:t>Includes nuclear-industry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8288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</a:rPr>
              <a:t>PRIVATE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2C2C"/>
                </a:solidFill>
              </a:rPr>
              <a:t>Jian Wang — First 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59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777777"/>
                </a:solidFill>
              </a:rPr>
              <a:t>His PhD thesis title is the paper's problem statement</a:t>
            </a:r>
          </a:p>
        </p:txBody>
      </p:sp>
      <p:pic>
        <p:nvPicPr>
          <p:cNvPr id="5" name="Picture 4" descr="wa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3444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760220"/>
            <a:ext cx="530352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2C2C2C"/>
                </a:solidFill>
              </a:rPr>
              <a:t>PhD student at SCU (2021–present)</a:t>
            </a:r>
          </a:p>
          <a:p>
            <a:r>
              <a:rPr sz="1050" dirty="0">
                <a:solidFill>
                  <a:srgbClr val="2C2C2C"/>
                </a:solidFill>
              </a:rPr>
              <a:t>All degrees from SCU: BSc 2013, MSc 2017, PhD 2021</a:t>
            </a:r>
          </a:p>
          <a:p>
            <a:r>
              <a:rPr sz="1050" dirty="0">
                <a:solidFill>
                  <a:srgbClr val="2C2C2C"/>
                </a:solidFill>
              </a:rPr>
              <a:t>Advisor: Prof. </a:t>
            </a:r>
            <a:r>
              <a:rPr sz="1050" dirty="0" err="1">
                <a:solidFill>
                  <a:srgbClr val="2C2C2C"/>
                </a:solidFill>
              </a:rPr>
              <a:t>Jiancheng</a:t>
            </a:r>
            <a:r>
              <a:rPr sz="1050" dirty="0">
                <a:solidFill>
                  <a:srgbClr val="2C2C2C"/>
                </a:solidFill>
              </a:rPr>
              <a:t> </a:t>
            </a:r>
            <a:r>
              <a:rPr sz="1050" dirty="0" err="1">
                <a:solidFill>
                  <a:srgbClr val="2C2C2C"/>
                </a:solidFill>
              </a:rPr>
              <a:t>Lv</a:t>
            </a:r>
            <a:endParaRPr sz="1050" dirty="0">
              <a:solidFill>
                <a:srgbClr val="2C2C2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PhD thesis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CC71"/>
                </a:solidFill>
              </a:rPr>
              <a:t>“Small-sample image generation via adversarial networks”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5303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</a:rPr>
              <a:t>小样本图像生成的对抗网络方法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5303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This matches SQ-GAN's problem statement almost word for word.</a:t>
            </a:r>
          </a:p>
          <a:p>
            <a:r>
              <a:rPr sz="1050">
                <a:solidFill>
                  <a:srgbClr val="2C2C2C"/>
                </a:solidFill>
              </a:rPr>
              <a:t>SQ-GAN is not a side project. It is his thesis.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5303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777777"/>
                </a:solidFill>
              </a:rPr>
              <a:t>jianwang.scu@gmail.com</a:t>
            </a:r>
            <a:r>
              <a:rPr sz="900" b="0" dirty="0">
                <a:solidFill>
                  <a:srgbClr val="777777"/>
                </a:solidFill>
              </a:rPr>
              <a:t>  |  </a:t>
            </a:r>
            <a:r>
              <a:rPr sz="900" b="0" dirty="0" err="1">
                <a:solidFill>
                  <a:srgbClr val="777777"/>
                </a:solidFill>
              </a:rPr>
              <a:t>github.com</a:t>
            </a:r>
            <a:r>
              <a:rPr sz="900" b="0" dirty="0">
                <a:solidFill>
                  <a:srgbClr val="777777"/>
                </a:solidFill>
              </a:rPr>
              <a:t>/</a:t>
            </a:r>
            <a:r>
              <a:rPr sz="900" b="0" dirty="0" err="1">
                <a:solidFill>
                  <a:srgbClr val="777777"/>
                </a:solidFill>
              </a:rPr>
              <a:t>jianwang-scu</a:t>
            </a:r>
            <a:r>
              <a:rPr sz="900" b="0" dirty="0">
                <a:solidFill>
                  <a:srgbClr val="777777"/>
                </a:solidFill>
              </a:rPr>
              <a:t>  |  ~87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PRIVATE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</a:rPr>
              <a:t>Wang's Research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62306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777777"/>
                </a:solidFill>
              </a:rPr>
              <a:t>A PhD built on one problem</a:t>
            </a:r>
          </a:p>
        </p:txBody>
      </p:sp>
      <p:pic>
        <p:nvPicPr>
          <p:cNvPr id="5" name="Picture 4" descr="wa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258568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" y="1883664"/>
            <a:ext cx="502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</a:rP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1883664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2C2C"/>
                </a:solidFill>
              </a:rPr>
              <a:t>Abstract painting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176272"/>
            <a:ext cx="502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</a:rPr>
              <a:t>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176272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2C2C"/>
                </a:solidFill>
              </a:rPr>
              <a:t>FusionGAN (abstract paintings)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468880"/>
            <a:ext cx="502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468880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2C2C"/>
                </a:solidFill>
              </a:rPr>
              <a:t>CR-GAN: craniofacial reconstruction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761488"/>
            <a:ext cx="502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</a:rP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761488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2C2C"/>
                </a:solidFill>
              </a:rPr>
              <a:t>SLIT: image translation  [TNNLS]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054096"/>
            <a:ext cx="502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054096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2ECC71"/>
                </a:solidFill>
              </a:rPr>
              <a:t>MS3D: discriminator fix  [ICML, 1st author]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346703"/>
            <a:ext cx="502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</a:rPr>
              <a:t>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346703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ECC71"/>
                </a:solidFill>
              </a:rPr>
              <a:t>SQ-GAN: style quantization  [CVPR, co-1st]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639311"/>
            <a:ext cx="502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</a:rP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3639311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2C2C"/>
                </a:solidFill>
              </a:rPr>
              <a:t>ICCR-Diff: craniofacial + 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4069079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</a:rPr>
              <a:t>painting → faces → translation → limited-data GANs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PRIVATE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</a:rPr>
              <a:t>Two Papers, One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58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77777"/>
                </a:solidFill>
              </a:rPr>
              <a:t>Same team, both sides of the same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</a:rPr>
              <a:t>MS3D — ICML 2024</a:t>
            </a:r>
          </a:p>
        </p:txBody>
      </p:sp>
      <p:pic>
        <p:nvPicPr>
          <p:cNvPr id="6" name="Picture 5" descr="wa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411480" cy="411480"/>
          </a:xfrm>
          <a:prstGeom prst="rect">
            <a:avLst/>
          </a:prstGeom>
        </p:spPr>
      </p:pic>
      <p:pic>
        <p:nvPicPr>
          <p:cNvPr id="7" name="Picture 6" descr="lan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411480" cy="411480"/>
          </a:xfrm>
          <a:prstGeom prst="rect">
            <a:avLst/>
          </a:prstGeom>
        </p:spPr>
      </p:pic>
      <p:pic>
        <p:nvPicPr>
          <p:cNvPr id="8" name="Picture 7" descr="tian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737360"/>
            <a:ext cx="411480" cy="411480"/>
          </a:xfrm>
          <a:prstGeom prst="rect">
            <a:avLst/>
          </a:prstGeom>
        </p:spPr>
      </p:pic>
      <p:pic>
        <p:nvPicPr>
          <p:cNvPr id="9" name="Picture 8" descr="lv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173736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2286000"/>
            <a:ext cx="36576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Wang, Lan, Tian, Lv (no Zhou)</a:t>
            </a:r>
          </a:p>
          <a:p>
            <a:r>
              <a:rPr sz="1050">
                <a:solidFill>
                  <a:srgbClr val="2C2C2C"/>
                </a:solidFill>
              </a:rPr>
              <a:t>Fixed the discriminator side</a:t>
            </a:r>
          </a:p>
          <a:p>
            <a:r>
              <a:rPr sz="1050">
                <a:solidFill>
                  <a:srgbClr val="2C2C2C"/>
                </a:solidFill>
              </a:rPr>
              <a:t>RG flow-based gradient regularization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71"/>
                </a:solidFill>
              </a:rPr>
              <a:t>SQ-GAN — CVPR 2025</a:t>
            </a:r>
          </a:p>
        </p:txBody>
      </p:sp>
      <p:pic>
        <p:nvPicPr>
          <p:cNvPr id="12" name="Picture 11" descr="wa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7360"/>
            <a:ext cx="411480" cy="411480"/>
          </a:xfrm>
          <a:prstGeom prst="rect">
            <a:avLst/>
          </a:prstGeom>
        </p:spPr>
      </p:pic>
      <p:pic>
        <p:nvPicPr>
          <p:cNvPr id="13" name="Picture 12" descr="lan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37360"/>
            <a:ext cx="411480" cy="411480"/>
          </a:xfrm>
          <a:prstGeom prst="rect">
            <a:avLst/>
          </a:prstGeom>
        </p:spPr>
      </p:pic>
      <p:pic>
        <p:nvPicPr>
          <p:cNvPr id="14" name="Picture 13" descr="zhou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1737360"/>
            <a:ext cx="411480" cy="411480"/>
          </a:xfrm>
          <a:prstGeom prst="rect">
            <a:avLst/>
          </a:prstGeom>
        </p:spPr>
      </p:pic>
      <p:pic>
        <p:nvPicPr>
          <p:cNvPr id="15" name="Picture 14" descr="tian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37360"/>
            <a:ext cx="411480" cy="411480"/>
          </a:xfrm>
          <a:prstGeom prst="rect">
            <a:avLst/>
          </a:prstGeom>
        </p:spPr>
      </p:pic>
      <p:pic>
        <p:nvPicPr>
          <p:cNvPr id="16" name="Picture 15" descr="lv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37360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0" y="2286000"/>
            <a:ext cx="41148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Wang, Lan, Zhou, Tian, Lv (Zhou joins)</a:t>
            </a:r>
          </a:p>
          <a:p>
            <a:r>
              <a:rPr sz="1050">
                <a:solidFill>
                  <a:srgbClr val="2C2C2C"/>
                </a:solidFill>
              </a:rPr>
              <a:t>Fixed the generator side</a:t>
            </a:r>
          </a:p>
          <a:p>
            <a:r>
              <a:rPr sz="1050">
                <a:solidFill>
                  <a:srgbClr val="2C2C2C"/>
                </a:solidFill>
              </a:rPr>
              <a:t>Style quantization + codebook + CLIP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8229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777777"/>
                </a:solidFill>
              </a:rPr>
              <a:t>Developed in parallel during 2024.</a:t>
            </a:r>
          </a:p>
          <a:p>
            <a:r>
              <a:rPr sz="1050" dirty="0">
                <a:solidFill>
                  <a:srgbClr val="777777"/>
                </a:solidFill>
              </a:rPr>
              <a:t>MS3D on </a:t>
            </a:r>
            <a:r>
              <a:rPr sz="1050" dirty="0" err="1">
                <a:solidFill>
                  <a:srgbClr val="777777"/>
                </a:solidFill>
              </a:rPr>
              <a:t>arXiv</a:t>
            </a:r>
            <a:r>
              <a:rPr sz="1050" dirty="0">
                <a:solidFill>
                  <a:srgbClr val="777777"/>
                </a:solidFill>
              </a:rPr>
              <a:t> Aug 2024, SQ-GAN submitted to CVPR Nov 2024.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PRIVATE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</a:rPr>
              <a:t>The Supporting Cast</a:t>
            </a:r>
          </a:p>
        </p:txBody>
      </p:sp>
      <p:pic>
        <p:nvPicPr>
          <p:cNvPr id="4" name="Picture 3" descr="lan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85416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2185416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Xin 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59736"/>
            <a:ext cx="32004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MSc student, co-first, corresponding author</a:t>
            </a:r>
          </a:p>
          <a:p>
            <a:r>
              <a:rPr sz="1050">
                <a:solidFill>
                  <a:srgbClr val="2C2C2C"/>
                </a:solidFill>
              </a:rPr>
              <a:t>ICML + CVPR co-first as a master's student</a:t>
            </a:r>
          </a:p>
          <a:p>
            <a:r>
              <a:rPr sz="1050">
                <a:solidFill>
                  <a:srgbClr val="2C2C2C"/>
                </a:solidFill>
              </a:rPr>
              <a:t>Handled reviewer correspondence</a:t>
            </a:r>
          </a:p>
        </p:txBody>
      </p:sp>
      <p:pic>
        <p:nvPicPr>
          <p:cNvPr id="7" name="Picture 6" descr="zhou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85416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2185416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Jizhe Zhou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459736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Assoc. Prof, tenured 2025</a:t>
            </a:r>
          </a:p>
          <a:p>
            <a:r>
              <a:rPr sz="1050">
                <a:solidFill>
                  <a:srgbClr val="2C2C2C"/>
                </a:solidFill>
              </a:rPr>
              <a:t>All degrees from Univ. of Macau</a:t>
            </a:r>
          </a:p>
          <a:p>
            <a:r>
              <a:rPr sz="1050">
                <a:solidFill>
                  <a:srgbClr val="2C2C2C"/>
                </a:solidFill>
              </a:rPr>
              <a:t>CUHK + Yonsei (Korea) experience</a:t>
            </a:r>
          </a:p>
          <a:p>
            <a:r>
              <a:rPr sz="1050">
                <a:solidFill>
                  <a:srgbClr val="2C2C2C"/>
                </a:solidFill>
              </a:rPr>
              <a:t>"generation &amp; anti-generation"</a:t>
            </a:r>
          </a:p>
        </p:txBody>
      </p:sp>
      <p:pic>
        <p:nvPicPr>
          <p:cNvPr id="10" name="Picture 9" descr="tian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57016"/>
            <a:ext cx="77724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3557016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Yuxin Tian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31336"/>
            <a:ext cx="32004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PhD student, now at Ant Group</a:t>
            </a:r>
          </a:p>
          <a:p>
            <a:r>
              <a:rPr sz="1050">
                <a:solidFill>
                  <a:srgbClr val="2C2C2C"/>
                </a:solidFill>
              </a:rPr>
              <a:t>Alibaba DAMO 2022, Ant Group 2024</a:t>
            </a:r>
          </a:p>
          <a:p>
            <a:r>
              <a:rPr sz="1050">
                <a:solidFill>
                  <a:srgbClr val="2C2C2C"/>
                </a:solidFill>
              </a:rPr>
              <a:t>Focus: continual learning, LLMs</a:t>
            </a:r>
          </a:p>
        </p:txBody>
      </p:sp>
      <p:pic>
        <p:nvPicPr>
          <p:cNvPr id="13" name="Picture 12" descr="lv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557016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60720" y="3557016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Jiancheng Lv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831336"/>
            <a:ext cx="32004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Dean of CS, PI</a:t>
            </a:r>
          </a:p>
          <a:p>
            <a:r>
              <a:rPr sz="1050">
                <a:solidFill>
                  <a:srgbClr val="2C2C2C"/>
                </a:solidFill>
              </a:rPr>
              <a:t>12,000 citations, h-index 48</a:t>
            </a:r>
          </a:p>
          <a:p>
            <a:r>
              <a:rPr sz="1050">
                <a:solidFill>
                  <a:srgbClr val="2C2C2C"/>
                </a:solidFill>
              </a:rPr>
              <a:t>Runs both labs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PRIVATE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</a:rPr>
              <a:t>Jiancheng Lv — Principal Investigator</a:t>
            </a:r>
          </a:p>
        </p:txBody>
      </p:sp>
      <p:pic>
        <p:nvPicPr>
          <p:cNvPr id="4" name="Picture 3" descr="lv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9967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" y="1819656"/>
            <a:ext cx="5303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C2C2C"/>
                </a:solidFill>
              </a:rPr>
              <a:t>Full Professor, Dean of CS + Intelligence Science at SCU</a:t>
            </a:r>
          </a:p>
          <a:p>
            <a:r>
              <a:rPr sz="1100" dirty="0">
                <a:solidFill>
                  <a:srgbClr val="2C2C2C"/>
                </a:solidFill>
              </a:rPr>
              <a:t>PhD from UESTC (2006), advisor: Zhang Yi (IEEE Fellow)</a:t>
            </a:r>
          </a:p>
          <a:p>
            <a:r>
              <a:rPr sz="1100" dirty="0">
                <a:solidFill>
                  <a:srgbClr val="2C2C2C"/>
                </a:solidFill>
              </a:rPr>
              <a:t>Postdoc at NUS Singapore (2007-08)</a:t>
            </a:r>
          </a:p>
          <a:p>
            <a:r>
              <a:rPr sz="1100" dirty="0">
                <a:solidFill>
                  <a:srgbClr val="2C2C2C"/>
                </a:solidFill>
              </a:rPr>
              <a:t>Worked at ZTE Corporation before academia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916936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</a:rPr>
              <a:t>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19125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~12,000 citations, h-index ~48</a:t>
            </a:r>
          </a:p>
          <a:p>
            <a:r>
              <a:rPr sz="1050">
                <a:solidFill>
                  <a:srgbClr val="2C2C2C"/>
                </a:solidFill>
              </a:rPr>
              <a:t>375+ publications</a:t>
            </a:r>
          </a:p>
          <a:p>
            <a:r>
              <a:rPr sz="1050">
                <a:solidFill>
                  <a:srgbClr val="2C2C2C"/>
                </a:solidFill>
              </a:rPr>
              <a:t>Natl Science Fund for Distinguished Young Scholars</a:t>
            </a:r>
          </a:p>
          <a:p>
            <a:r>
              <a:rPr sz="1050">
                <a:solidFill>
                  <a:srgbClr val="2C2C2C"/>
                </a:solidFill>
              </a:rPr>
              <a:t>2nd Prize, National Natural Science Award (2020)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105656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</a:rPr>
              <a:t>Notable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379975"/>
            <a:ext cx="5303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777777"/>
                </a:solidFill>
              </a:rPr>
              <a:t>Alumni: Dayiheng Liu → Alibaba DAMO, core of Qwen LLM</a:t>
            </a:r>
          </a:p>
          <a:p>
            <a:r>
              <a:rPr sz="1050">
                <a:solidFill>
                  <a:srgbClr val="777777"/>
                </a:solidFill>
              </a:rPr>
              <a:t>Co-authored "Subspace Learning of Neural Networks" (CRC Press)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PRIVATE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</a:rPr>
              <a:t>Why This Problem? Why This Lab?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764792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</a:rPr>
              <a:t>Lab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039112"/>
            <a:ext cx="38404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Craniofacial reconstruction (CR-GAN)</a:t>
            </a:r>
          </a:p>
          <a:p>
            <a:r>
              <a:rPr sz="1050">
                <a:solidFill>
                  <a:srgbClr val="2C2C2C"/>
                </a:solidFill>
              </a:rPr>
              <a:t>Dental identification (DHI-GAN)</a:t>
            </a:r>
          </a:p>
          <a:p>
            <a:r>
              <a:rPr sz="1050">
                <a:solidFill>
                  <a:srgbClr val="2C2C2C"/>
                </a:solidFill>
              </a:rPr>
              <a:t>Boneprint person ID</a:t>
            </a:r>
          </a:p>
          <a:p>
            <a:r>
              <a:rPr sz="1050">
                <a:solidFill>
                  <a:srgbClr val="2C2C2C"/>
                </a:solidFill>
              </a:rPr>
              <a:t>Nuclear-industry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136392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</a:rPr>
              <a:t>Broader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410712"/>
            <a:ext cx="384048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China's PIPL (Nov 2021): restricts</a:t>
            </a:r>
          </a:p>
          <a:p>
            <a:r>
              <a:rPr sz="1050">
                <a:solidFill>
                  <a:srgbClr val="2C2C2C"/>
                </a:solidFill>
              </a:rPr>
              <a:t>biometric/medical data collection</a:t>
            </a:r>
          </a:p>
          <a:p>
            <a:r>
              <a:rPr sz="1050">
                <a:solidFill>
                  <a:srgbClr val="2C2C2C"/>
                </a:solidFill>
              </a:rPr>
              <a:t>Copyright limits 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2896" y="1764792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</a:rPr>
              <a:t>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2896" y="2039112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2C2C"/>
                </a:solidFill>
              </a:rPr>
              <a:t>NSFC Major Instruments Grant</a:t>
            </a:r>
          </a:p>
          <a:p>
            <a:r>
              <a:rPr sz="1050">
                <a:solidFill>
                  <a:srgbClr val="2C2C2C"/>
                </a:solidFill>
              </a:rPr>
              <a:t>Sichuan Province Research Groups Fund</a:t>
            </a:r>
          </a:p>
          <a:p>
            <a:r>
              <a:rPr sz="1050">
                <a:solidFill>
                  <a:srgbClr val="2C2C2C"/>
                </a:solidFill>
              </a:rPr>
              <a:t>Central Universities Fund</a:t>
            </a:r>
          </a:p>
          <a:p>
            <a:r>
              <a:rPr sz="1050">
                <a:solidFill>
                  <a:srgbClr val="2C2C2C"/>
                </a:solidFill>
              </a:rPr>
              <a:t>Institutionally funded.</a:t>
            </a:r>
          </a:p>
        </p:txBody>
      </p:sp>
      <p:pic>
        <p:nvPicPr>
          <p:cNvPr id="10" name="Picture 9" descr="wa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3136392"/>
            <a:ext cx="640080" cy="640080"/>
          </a:xfrm>
          <a:prstGeom prst="rect">
            <a:avLst/>
          </a:prstGeom>
        </p:spPr>
      </p:pic>
      <p:pic>
        <p:nvPicPr>
          <p:cNvPr id="11" name="Picture 10" descr="zhou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3136392"/>
            <a:ext cx="640080" cy="640080"/>
          </a:xfrm>
          <a:prstGeom prst="rect">
            <a:avLst/>
          </a:prstGeom>
        </p:spPr>
      </p:pic>
      <p:pic>
        <p:nvPicPr>
          <p:cNvPr id="12" name="Picture 11" descr="lv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136392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82896" y="3867912"/>
            <a:ext cx="320040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77777"/>
                </a:solidFill>
              </a:rPr>
              <a:t>Industrial and medical focus makes</a:t>
            </a:r>
            <a:br>
              <a:rPr sz="1800"/>
            </a:br>
            <a:r>
              <a:rPr sz="1800"/>
              <a:t>limited-data training a daily reality.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82880"/>
            <a:ext cx="7315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</a:rPr>
              <a:t>PRIVATE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</a:rPr>
              <a:t>Summary</a:t>
            </a:r>
          </a:p>
        </p:txBody>
      </p:sp>
      <p:pic>
        <p:nvPicPr>
          <p:cNvPr id="4" name="Picture 3" descr="wa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4208"/>
            <a:ext cx="640080" cy="640080"/>
          </a:xfrm>
          <a:prstGeom prst="rect">
            <a:avLst/>
          </a:prstGeom>
        </p:spPr>
      </p:pic>
      <p:pic>
        <p:nvPicPr>
          <p:cNvPr id="5" name="Picture 4" descr="lan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664208"/>
            <a:ext cx="640080" cy="640080"/>
          </a:xfrm>
          <a:prstGeom prst="rect">
            <a:avLst/>
          </a:prstGeom>
        </p:spPr>
      </p:pic>
      <p:pic>
        <p:nvPicPr>
          <p:cNvPr id="6" name="Picture 5" descr="zhou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1664208"/>
            <a:ext cx="640080" cy="640080"/>
          </a:xfrm>
          <a:prstGeom prst="rect">
            <a:avLst/>
          </a:prstGeom>
        </p:spPr>
      </p:pic>
      <p:pic>
        <p:nvPicPr>
          <p:cNvPr id="7" name="Picture 6" descr="tian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368" y="1664208"/>
            <a:ext cx="640080" cy="640080"/>
          </a:xfrm>
          <a:prstGeom prst="rect">
            <a:avLst/>
          </a:prstGeom>
        </p:spPr>
      </p:pic>
      <p:pic>
        <p:nvPicPr>
          <p:cNvPr id="8" name="Picture 7" descr="lv_pho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7" y="1664208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2532888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C2C2C"/>
                </a:solidFill>
              </a:rPr>
              <a:t>SQ-GAN is the latest output of Jian Wang's PhD thesis.</a:t>
            </a:r>
          </a:p>
          <a:p>
            <a:r>
              <a:rPr sz="1100" dirty="0">
                <a:solidFill>
                  <a:srgbClr val="2C2C2C"/>
                </a:solidFill>
              </a:rPr>
              <a:t>His thesis title matches the paper's problem statement word for word.</a:t>
            </a:r>
          </a:p>
          <a:p>
            <a:endParaRPr sz="1100" dirty="0">
              <a:solidFill>
                <a:srgbClr val="2C2C2C"/>
              </a:solidFill>
            </a:endParaRPr>
          </a:p>
          <a:p>
            <a:r>
              <a:rPr sz="1100" dirty="0">
                <a:solidFill>
                  <a:srgbClr val="2C2C2C"/>
                </a:solidFill>
              </a:rPr>
              <a:t>Two-paper arc: MS3D fixed the discriminator, SQ-GAN fixed the generator.</a:t>
            </a:r>
          </a:p>
          <a:p>
            <a:r>
              <a:rPr sz="1100" dirty="0">
                <a:solidFill>
                  <a:srgbClr val="2C2C2C"/>
                </a:solidFill>
              </a:rPr>
              <a:t>Systematic strategy, not accidental.</a:t>
            </a:r>
          </a:p>
          <a:p>
            <a:endParaRPr sz="1100" dirty="0">
              <a:solidFill>
                <a:srgbClr val="2C2C2C"/>
              </a:solidFill>
            </a:endParaRPr>
          </a:p>
          <a:p>
            <a:r>
              <a:rPr sz="1100" dirty="0">
                <a:solidFill>
                  <a:srgbClr val="2C2C2C"/>
                </a:solidFill>
              </a:rPr>
              <a:t>Xin Lan: MSc student with ICML + CVPR in consecutive years.</a:t>
            </a:r>
          </a:p>
          <a:p>
            <a:endParaRPr sz="1100" dirty="0">
              <a:solidFill>
                <a:srgbClr val="2C2C2C"/>
              </a:solidFill>
            </a:endParaRPr>
          </a:p>
          <a:p>
            <a:r>
              <a:rPr sz="1100" dirty="0" err="1">
                <a:solidFill>
                  <a:srgbClr val="2C2C2C"/>
                </a:solidFill>
              </a:rPr>
              <a:t>Jizhe</a:t>
            </a:r>
            <a:r>
              <a:rPr sz="1100" dirty="0">
                <a:solidFill>
                  <a:srgbClr val="2C2C2C"/>
                </a:solidFill>
              </a:rPr>
              <a:t> Zhou joined for SQ-GAN, bringing forensics expertise.</a:t>
            </a:r>
          </a:p>
          <a:p>
            <a:endParaRPr sz="1100" dirty="0">
              <a:solidFill>
                <a:srgbClr val="2C2C2C"/>
              </a:solidFill>
            </a:endParaRPr>
          </a:p>
          <a:p>
            <a:r>
              <a:rPr sz="1100" dirty="0">
                <a:solidFill>
                  <a:srgbClr val="2C2C2C"/>
                </a:solidFill>
              </a:rPr>
              <a:t>The lab's industrial focus (nuclear, medical, forensic) makes</a:t>
            </a:r>
          </a:p>
          <a:p>
            <a:r>
              <a:rPr sz="1100" dirty="0">
                <a:solidFill>
                  <a:srgbClr val="2C2C2C"/>
                </a:solidFill>
              </a:rPr>
              <a:t>limited-data training a real need, not just a research trend.</a:t>
            </a:r>
          </a:p>
          <a:p>
            <a:endParaRPr sz="1100" dirty="0">
              <a:solidFill>
                <a:srgbClr val="2C2C2C"/>
              </a:solidFill>
            </a:endParaRPr>
          </a:p>
          <a:p>
            <a:r>
              <a:rPr sz="1100" dirty="0">
                <a:solidFill>
                  <a:srgbClr val="2C2C2C"/>
                </a:solidFill>
              </a:rPr>
              <a:t>Three academic generations, two labs, one sustained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679</Words>
  <Application>Microsoft Macintosh PowerPoint</Application>
  <PresentationFormat>On-screen Show (4:3)</PresentationFormat>
  <Paragraphs>125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Batuhan Karaman - Madlen</cp:lastModifiedBy>
  <cp:revision>2</cp:revision>
  <dcterms:modified xsi:type="dcterms:W3CDTF">2026-03-30T21:07:46Z</dcterms:modified>
</cp:coreProperties>
</file>