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623888" y="3587262"/>
            <a:ext cx="4651497" cy="9752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463040" y="125977"/>
            <a:ext cx="7793502" cy="6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Arial"/>
              <a:buNone/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628650" y="150206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Noto Sans Symbols"/>
              <a:buChar char="▪"/>
              <a:defRPr sz="26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Noto Sans Symbols"/>
              <a:buChar char="▪"/>
              <a:defRPr sz="22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Noto Sans Symbols"/>
              <a:buChar char="▪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700"/>
              <a:buFont typeface="Noto Sans Symbols"/>
              <a:buChar char="▪"/>
              <a:defRPr sz="17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📝 Amin: Summary of the Paper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[Paper summary]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📝 Amin: Strengths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[Strength 1]</a:t>
            </a:r>
          </a:p>
          <a:p>
            <a:pPr>
              <a:defRPr sz="1600"/>
            </a:pPr>
            <a:r>
              <a:t>[Strength 2]</a:t>
            </a:r>
          </a:p>
          <a:p>
            <a:pPr>
              <a:defRPr sz="1600"/>
            </a:pPr>
            <a:r>
              <a:t>[Strength 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📝 Amin: Weaknesses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[Weakness 1]</a:t>
            </a:r>
          </a:p>
          <a:p>
            <a:pPr>
              <a:defRPr sz="1600"/>
            </a:pPr>
            <a:r>
              <a:t>[Weakness 2]</a:t>
            </a:r>
          </a:p>
          <a:p>
            <a:pPr>
              <a:defRPr sz="1600"/>
            </a:pPr>
            <a:r>
              <a:t>[Weakness 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📝 Amin: Questions for Authors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[Question 1]</a:t>
            </a:r>
          </a:p>
          <a:p>
            <a:pPr>
              <a:defRPr sz="1600"/>
            </a:pPr>
            <a:r>
              <a:t>[Question 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📝 Amin: Overall Score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Score: [X/10]</a:t>
            </a:r>
          </a:p>
          <a:p>
            <a:pPr>
              <a:defRPr sz="1600"/>
            </a:pPr>
            <a:r>
              <a:t>Recommendation: [Accept / Weak Accept / Borderline / Reject]</a:t>
            </a:r>
          </a:p>
          <a:p>
            <a:pPr>
              <a:defRPr sz="1600"/>
            </a:pPr>
            <a:r>
              <a:t>Confidence: [X/5]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🕵️ Batuhan: The Team Behind SQ-GAN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All five authors are from Sichuan University, College of CS, Chengdu</a:t>
            </a:r>
          </a:p>
          <a:p>
            <a:pPr>
              <a:defRPr sz="1600"/>
            </a:pPr>
            <a:r>
              <a:t>Two labs: MachineILab (est. 2008, Zhang Yi) and DICALab (Jiancheng Lv)</a:t>
            </a:r>
          </a:p>
          <a:p>
            <a:pPr>
              <a:defRPr sz="1600"/>
            </a:pPr>
            <a:r>
              <a:t>Three academic generations: Zhang Yi (IEEE Fellow) -&gt; Lv -&gt; students</a:t>
            </a:r>
          </a:p>
          <a:p>
            <a:pPr>
              <a:defRPr sz="1600"/>
            </a:pPr>
            <a:r>
              <a:t>This paper is not a one-off; it comes from a multi-year research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🕵️ Batuhan: Jian Wang — First Author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PhD student at SCU (2021-present), all degrees from SCU (BSc 2013, MSc 2017)</a:t>
            </a:r>
          </a:p>
          <a:p>
            <a:pPr>
              <a:defRPr sz="1600"/>
            </a:pPr>
            <a:r>
              <a:t>Advisor: Prof. Jiancheng Lv</a:t>
            </a:r>
          </a:p>
          <a:p>
            <a:pPr>
              <a:defRPr sz="1600"/>
            </a:pPr>
            <a:r>
              <a:t>PhD thesis title: "small-sample image generation via adversarial networks"</a:t>
            </a:r>
          </a:p>
          <a:p>
            <a:pPr>
              <a:defRPr sz="1600"/>
            </a:pPr>
            <a:r>
              <a:t>This thesis title is almost identical to SQ-GAN's problem statement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🕵️ Batuhan: Wang's Research Path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2020-21: abstract painting generation (deep generative models)</a:t>
            </a:r>
          </a:p>
          <a:p>
            <a:pPr>
              <a:defRPr sz="1600"/>
            </a:pPr>
            <a:r>
              <a:t>2022: CR-GAN — craniofacial reconstruction from skulls</a:t>
            </a:r>
          </a:p>
          <a:p>
            <a:pPr>
              <a:defRPr sz="1600"/>
            </a:pPr>
            <a:r>
              <a:t>2024 TNNLS: SLIT — selective image translation</a:t>
            </a:r>
          </a:p>
          <a:p>
            <a:pPr>
              <a:defRPr sz="1600"/>
            </a:pPr>
            <a:r>
              <a:t>2024 ICML: MS3D — discriminator regularization for limited-data GANs</a:t>
            </a:r>
          </a:p>
          <a:p>
            <a:pPr>
              <a:defRPr sz="1600"/>
            </a:pPr>
            <a:r>
              <a:t>2025 CVPR: SQ-GAN — generator-side fix via style quantization</a:t>
            </a:r>
          </a:p>
          <a:p>
            <a:pPr>
              <a:defRPr sz="1600"/>
            </a:pPr>
            <a:r>
              <a:t>Clear arc: painting -&gt; faces -&gt; translation -&gt; limited-data GANs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🕵️ Batuhan: MS3D to SQ-GAN — A Two-Paper Strategy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Same core team published both papers at consecutive top venues</a:t>
            </a:r>
          </a:p>
          <a:p>
            <a:pPr>
              <a:defRPr sz="1600"/>
            </a:pPr>
            <a:r>
              <a:t>MS3D (ICML 2024): fixed the discriminator side</a:t>
            </a:r>
          </a:p>
          <a:p>
            <a:pPr>
              <a:defRPr sz="1600"/>
            </a:pPr>
            <a:r>
              <a:t>SQ-GAN (CVPR 2025): fixed the generator side</a:t>
            </a:r>
          </a:p>
          <a:p>
            <a:pPr>
              <a:defRPr sz="1600"/>
            </a:pPr>
            <a:r>
              <a:t>Together they attack limited-data GANs from both directions</a:t>
            </a:r>
          </a:p>
          <a:p>
            <a:pPr>
              <a:defRPr sz="1600"/>
            </a:pPr>
            <a:r>
              <a:t>Likely developed in parallel during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🕵️ Batuhan: The Rest of the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Xin Lan: MSc student, co-first author — ICML + CVPR in back-to-back years</a:t>
            </a:r>
          </a:p>
          <a:p>
            <a:pPr>
              <a:defRPr sz="1600"/>
            </a:pPr>
            <a:r>
              <a:t>Jizhe Zhou: assoc. prof., forensics expert (IML-ViT, ForensicsHub)</a:t>
            </a:r>
          </a:p>
          <a:p>
            <a:pPr>
              <a:defRPr sz="1600"/>
            </a:pPr>
            <a:r>
              <a:t>  was NOT on MS3D, joined at SQ-GAN — brought forensics perspective</a:t>
            </a:r>
          </a:p>
          <a:p>
            <a:pPr>
              <a:defRPr sz="1600"/>
            </a:pPr>
            <a:r>
              <a:t>Yuxin Tian: PhD student, interning at Ant Group, focus on LLMs/continual learning</a:t>
            </a:r>
          </a:p>
          <a:p>
            <a:pPr>
              <a:defRPr sz="1600"/>
            </a:pPr>
            <a:r>
              <a:t>Jiancheng Lv: Dean of CS, 12k+ citations, runs the whole operation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🕵️ Batuhan: Why This Topic? Why This Lab?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DICALab does industrial AI and nuclear-industry applications</a:t>
            </a:r>
          </a:p>
          <a:p>
            <a:pPr>
              <a:defRPr sz="1600"/>
            </a:pPr>
            <a:r>
              <a:t>In those domains data is scarce, expensive, sometimes classified</a:t>
            </a:r>
          </a:p>
          <a:p>
            <a:pPr>
              <a:defRPr sz="1600"/>
            </a:pPr>
            <a:r>
              <a:t>China's PIPL (2021) tightened rules on biometric/medical data collection</a:t>
            </a:r>
          </a:p>
          <a:p>
            <a:pPr>
              <a:defRPr sz="1600"/>
            </a:pPr>
            <a:r>
              <a:t>Lab also does craniofacial reconstruction — inherently limited data</a:t>
            </a:r>
          </a:p>
          <a:p>
            <a:pPr>
              <a:defRPr sz="1600"/>
            </a:pPr>
            <a:r>
              <a:t>Limited-data GANs are not an academic exercise for this group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🕵️ Batuhan: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SQ-GAN is the latest output of Jian Wang's PhD thesis</a:t>
            </a:r>
          </a:p>
          <a:p>
            <a:pPr>
              <a:defRPr sz="1600"/>
            </a:pPr>
            <a:r>
              <a:t>Thesis title matches the paper's problem statement almost word for word</a:t>
            </a:r>
          </a:p>
          <a:p>
            <a:pPr>
              <a:defRPr sz="1600"/>
            </a:pPr>
            <a:r>
              <a:t>Two-paper arc: discriminator (MS3D) then generator (SQ-GAN)</a:t>
            </a:r>
          </a:p>
          <a:p>
            <a:pPr>
              <a:defRPr sz="1600"/>
            </a:pPr>
            <a:r>
              <a:t>Jizhe Zhou's forensics background connects to the codebook/semantic side</a:t>
            </a:r>
          </a:p>
          <a:p>
            <a:pPr>
              <a:defRPr sz="1600"/>
            </a:pPr>
            <a:r>
              <a:t>The lab's industrial focus makes limited-data training a real need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🧑‍🔬 Eyup: What the Paper Achieved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[Key result]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🧑‍🔬 Eyup: Proposed Follow-Up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[Project title]</a:t>
            </a:r>
          </a:p>
          <a:p>
            <a:pPr>
              <a:defRPr sz="1600"/>
            </a:pPr>
            <a:r>
              <a:t>[Core idea]</a:t>
            </a:r>
          </a:p>
          <a:p>
            <a:pPr>
              <a:defRPr sz="1600"/>
            </a:pPr>
            <a:r>
              <a:t>[Why only possible because of SQ-GAN]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🧑‍🔬 Eyup: Method and Expected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600"/>
            </a:pPr>
            <a:r>
              <a:t>[Technical approach]</a:t>
            </a:r>
          </a:p>
          <a:p>
            <a:pPr>
              <a:defRPr sz="1600"/>
            </a:pPr>
            <a:r>
              <a:t>[What you would measure]</a:t>
            </a:r>
          </a:p>
          <a:p>
            <a:pPr>
              <a:defRPr sz="1600"/>
            </a:pPr>
            <a:r>
              <a:t>[Why interesting]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