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423160"/>
            <a:ext cx="1828800" cy="54864"/>
          </a:xfrm>
          <a:prstGeom prst="rect">
            <a:avLst/>
          </a:prstGeom>
          <a:solidFill>
            <a:srgbClr val="A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elvetica"/>
              </a:rPr>
              <a:t>COMP447  · 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1A1A1A"/>
                </a:solidFill>
                <a:latin typeface="Helvetica"/>
              </a:rPr>
              <a:t>When Does Cheap Consistency Tuning Pay Off?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Helvetica"/>
              </a:rPr>
              <a:t>When is consistency tuning worth it?  ·  The open question we found.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74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>Batuhan Karaman   ·   Kadir Yiğit Özçelik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elvetica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64008" cy="457200"/>
          </a:xfrm>
          <a:prstGeom prst="rect">
            <a:avLst/>
          </a:prstGeom>
          <a:solidFill>
            <a:srgbClr val="A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5156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0">
                <a:solidFill>
                  <a:srgbClr val="1A1A1A"/>
                </a:solidFill>
                <a:latin typeface="Helvetica"/>
              </a:rPr>
              <a:t>•   Diffusion models reach state of the art image quality at the cost of 30 to 100+ neural function evaluations per image.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1A1A1A"/>
                </a:solidFill>
                <a:latin typeface="Helvetica"/>
              </a:rPr>
              <a:t>•   Consistency Models compress sampling into 1 or 2 steps, but the upfront tuning is non trivial.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1A1A1A"/>
                </a:solidFill>
                <a:latin typeface="Helvetica"/>
              </a:rPr>
              <a:t>•   When is cheap consistency tuning worth paying for, and how should you sample once you've paid?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64008" cy="457200"/>
          </a:xfrm>
          <a:prstGeom prst="rect">
            <a:avLst/>
          </a:prstGeom>
          <a:solidFill>
            <a:srgbClr val="A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Helvetica"/>
              </a:rPr>
              <a:t>Diffusion: probability flow ODE  [Karras+ 2022, EDM]</a:t>
            </a:r>
          </a:p>
        </p:txBody>
      </p:sp>
      <p:pic>
        <p:nvPicPr>
          <p:cNvPr id="5" name="Picture 4" descr="eq_pf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166" y="1554480"/>
            <a:ext cx="5551362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Helvetica"/>
              </a:rPr>
              <a:t>Consistency model: a learnable flow map  [Song+ 2023]</a:t>
            </a:r>
          </a:p>
        </p:txBody>
      </p:sp>
      <p:pic>
        <p:nvPicPr>
          <p:cNvPr id="7" name="Picture 6" descr="eq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653" y="3291840"/>
            <a:ext cx="6484389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84632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Helvetica"/>
              </a:rPr>
              <a:t>•   Diffusion: 2 NFE / step, 18 steps ≈ 35 NFE.   ·   CM: 1 NFE for 1 step, 2 NFE for 2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64008" cy="457200"/>
          </a:xfrm>
          <a:prstGeom prst="rect">
            <a:avLst/>
          </a:prstGeom>
          <a:solidFill>
            <a:srgbClr val="A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"/>
              </a:rPr>
              <a:t>Easy Consistency Tuning  ·  the model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Helvetica"/>
              </a:rPr>
              <a:t>Self consistency between infinitesimally close noise levels  [Geng+ 2025]</a:t>
            </a:r>
          </a:p>
        </p:txBody>
      </p:sp>
      <p:pic>
        <p:nvPicPr>
          <p:cNvPr id="5" name="Picture 4" descr="eq_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746" y="1783080"/>
            <a:ext cx="7952201" cy="1051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337560"/>
            <a:ext cx="105156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Helvetica"/>
              </a:rPr>
              <a:t>•   Initialised from a pretrained EDM checkpoint, no distillation teacher.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Helvetica"/>
              </a:rPr>
              <a:t>•   Two step inference uses a single hand picked midpoint at value 0.821, with no derivation in the paper.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Helvetica"/>
              </a:rPr>
              <a:t>•   Paper claim: ~1 A100 hour to reach FID 2.11 at 400 k kimg.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64008" cy="457200"/>
          </a:xfrm>
          <a:prstGeom prst="rect">
            <a:avLst/>
          </a:prstGeom>
          <a:solidFill>
            <a:srgbClr val="A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"/>
              </a:rPr>
              <a:t>Pareto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elvetica"/>
              </a:rPr>
              <a:t>EDM CIFAR 10 32×32  ·  ECT @ 1980 kimg  ·  Heun 5 to 50 steps  ·  NVIDIA G4 Blackwell  ·  batch = 1</a:t>
            </a:r>
          </a:p>
        </p:txBody>
      </p:sp>
      <p:pic>
        <p:nvPicPr>
          <p:cNvPr id="5" name="Picture 4" descr="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873" y="1554480"/>
            <a:ext cx="7613947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6928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ECT 2 step  ·  FID 2.47  ·  14 ms / image  →  17× faster than Heun 18.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On this short tuning budget, ECT Pareto dominates Heun across every operating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64008" cy="457200"/>
          </a:xfrm>
          <a:prstGeom prst="rect">
            <a:avLst/>
          </a:prstGeom>
          <a:solidFill>
            <a:srgbClr val="A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"/>
              </a:rPr>
              <a:t>Tuning budget ablation</a:t>
            </a:r>
          </a:p>
        </p:txBody>
      </p:sp>
      <p:pic>
        <p:nvPicPr>
          <p:cNvPr id="4" name="Picture 3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055" y="1188720"/>
            <a:ext cx="7819584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349240"/>
            <a:ext cx="105156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94 % of paper reported quality at 0.5 % of the paper’s training budget.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Diminishing returns past 1000 kimg  →  early stopping recipe is realistic.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Break even vs Heun 18  ·  N* ≈ 23.5 k images (batch 1) before tuning amortises.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64008" cy="457200"/>
          </a:xfrm>
          <a:prstGeom prst="rect">
            <a:avLst/>
          </a:prstGeom>
          <a:solidFill>
            <a:srgbClr val="A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"/>
              </a:rPr>
              <a:t>The real open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5156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As we characterised 2 step behaviour across our 4 checkpoints, every result rested on a single hidden parameter: a midpoint at 0.821, fixed across all training stages and step budgets.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94560"/>
            <a:ext cx="10607040" cy="187451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64008" cy="1874519"/>
          </a:xfrm>
          <a:prstGeom prst="rect">
            <a:avLst/>
          </a:prstGeom>
          <a:solidFill>
            <a:srgbClr val="A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95728"/>
            <a:ext cx="10104119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Helvetica"/>
              </a:rPr>
              <a:t>“It’s a very good question and I think also an open research problem. I don’t have a manual for it. You can treat it as an optimization problem, maximizing sample quality with respect to these sampling schedules.”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59"/>
            <a:ext cx="101041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elvetica"/>
              </a:rPr>
              <a:t>Zhengyang Geng, ECT first author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51960"/>
            <a:ext cx="1051560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No derivation in ECT [Geng+ 2025], sCM [Karras+ 2024], or Multistep CM [Heek+ 2024].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Heuristic timestep selection exists [TDD, Wang+ 2024], but principled KLUB-based optimization for consistency models does not.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Align Your Steps [Sabour+ 2024] solves it for diffusion only — we adapt the KL upper bound to the consistency flow map.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64008" cy="457200"/>
          </a:xfrm>
          <a:prstGeom prst="rect">
            <a:avLst/>
          </a:prstGeom>
          <a:solidFill>
            <a:srgbClr val="A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"/>
              </a:rPr>
              <a:t>Our method  ·  KLUB CM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Helvetica"/>
              </a:rPr>
              <a:t>Re-derive the Align Your Steps KL upper bound for the consistency function, not the score field.</a:t>
            </a:r>
          </a:p>
        </p:txBody>
      </p:sp>
      <p:pic>
        <p:nvPicPr>
          <p:cNvPr id="5" name="Picture 4" descr="eq_kl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900" y="1783080"/>
            <a:ext cx="6427893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0175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elvetica"/>
              </a:rPr>
              <a:t>Inspiration:  KL upper bound [Sabour+ 2024]  ·  trajectory awareness [Kim+ 2024, CTM]  ·  adaptive schedules [OSS, 2025]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Linearise the flow map (not the score) at chosen knots; the KLUB upper bounds the discretisation error.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Schedule is checkpoint conditioned  →  drifts with model quality, unlike a fixed magic number.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Predicted impact: pushes ECT operating points further left on the Pareto frontier; generalises to unseen step budgets without retraining.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64008" cy="457200"/>
          </a:xfrm>
          <a:prstGeom prst="rect">
            <a:avLst/>
          </a:prstGeom>
          <a:solidFill>
            <a:srgbClr val="A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"/>
              </a:rPr>
              <a:t>Implementation  ·  what we are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51560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KLUB derivation for the CM flow map  ·  rederived for the consistency function, not the score field.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Schedule optimiser  ·  LBFGS over the schedule knots in PyTorch — gradient based, orders of magnitude cheaper than grid search.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On policy loss patch in training/loss.py  ·  student's own outputs at the chosen midpoint, motivated by exposure bias work [Agarwal+ 2023, GKD].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Helvetica"/>
              </a:rPr>
              <a:t>•   Corrected evaluation pipeline  ·  1 step and 2 step routed to the right sampler.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elvetica"/>
              </a:rPr>
              <a:t>training/loss.py  ·  on policy schedule aware term  (sketch)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251960"/>
            <a:ext cx="10607040" cy="187451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370832"/>
            <a:ext cx="10241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1A"/>
                </a:solidFill>
                <a:latin typeface="Menlo"/>
              </a:rPr>
              <a:t>x_mid = f_theta(z * t_max, t_max).detach()         # student's own coarse output</a:t>
            </a:r>
          </a:p>
          <a:p>
            <a:r>
              <a:rPr sz="1100" b="0">
                <a:solidFill>
                  <a:srgbClr val="1A1A1A"/>
                </a:solidFill>
                <a:latin typeface="Menlo"/>
              </a:rPr>
              <a:t>t_mid = klub_optimiser(checkpoint=ckpt)            # KLUB derived knot</a:t>
            </a:r>
          </a:p>
          <a:p>
            <a:r>
              <a:rPr sz="1100" b="0">
                <a:solidFill>
                  <a:srgbClr val="1A1A1A"/>
                </a:solidFill>
                <a:latin typeface="Menlo"/>
              </a:rPr>
              <a:t>L_on  = w(t_mid) * d(</a:t>
            </a:r>
          </a:p>
          <a:p>
            <a:r>
              <a:rPr sz="1100" b="0">
                <a:solidFill>
                  <a:srgbClr val="1A1A1A"/>
                </a:solidFill>
                <a:latin typeface="Menlo"/>
              </a:rPr>
              <a:t>    f_theta      (x_mid + eps * t_mid, t_mid),     # on policy input</a:t>
            </a:r>
          </a:p>
          <a:p>
            <a:r>
              <a:rPr sz="1100" b="0">
                <a:solidFill>
                  <a:srgbClr val="1A1A1A"/>
                </a:solidFill>
                <a:latin typeface="Menlo"/>
              </a:rPr>
              <a:t>    f_theta_prime(x_mid + eps * r,     r),         # EMA target</a:t>
            </a:r>
          </a:p>
          <a:p>
            <a:r>
              <a:rPr sz="1100" b="0">
                <a:solidFill>
                  <a:srgbClr val="1A1A1A"/>
                </a:solidFill>
                <a:latin typeface="Menlo"/>
              </a:rPr>
              <a:t>)</a:t>
            </a:r>
          </a:p>
          <a:p>
            <a:r>
              <a:rPr sz="1100" b="0">
                <a:solidFill>
                  <a:srgbClr val="1A1A1A"/>
                </a:solidFill>
                <a:latin typeface="Menlo"/>
              </a:rPr>
              <a:t>L     = L_ECT  +  lam * L_on                       # original + on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64008" cy="457200"/>
          </a:xfrm>
          <a:prstGeom prst="rect">
            <a:avLst/>
          </a:prstGeom>
          <a:solidFill>
            <a:srgbClr val="A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"/>
              </a:rPr>
              <a:t>Status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A83D3D"/>
                </a:solidFill>
                <a:latin typeface="Helvetica"/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486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Helvetica"/>
              </a:rPr>
              <a:t>•   ECT tuning, 4 checkpoints saved.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Helvetica"/>
              </a:rPr>
              <a:t>•   Heun baselines @ 5 to 50 steps.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Helvetica"/>
              </a:rPr>
              <a:t>•   Latency profiling, B = 1 and B = 64.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Helvetica"/>
              </a:rPr>
              <a:t>•   Corrected evaluation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24242"/>
                </a:solidFill>
                <a:latin typeface="Helvetica"/>
              </a:rPr>
              <a:t>In flight  ·  Up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486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Helvetica"/>
              </a:rPr>
              <a:t>•   Midpoint grid sweep across all 4 checkpoints.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Helvetica"/>
              </a:rPr>
              <a:t>•   KLUB CM derivation + schedule optimiser.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Helvetica"/>
              </a:rPr>
              <a:t>•   On policy schedule aware fine tune  (stretch).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Helvetica"/>
              </a:rPr>
              <a:t>•   Final report  ·  early June.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elvetica"/>
              </a:rPr>
              <a:t>Risk  ·  GPU time on Colab; mitigated by small checkpoint footprint and 10k sample screening for the sweep.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